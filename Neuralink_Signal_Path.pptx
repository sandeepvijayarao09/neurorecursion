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c0c7203a-5d2c-8260-5083-f4a99759cd49}">
          <p14:sldIdLst>
            <p14:sldId id="256"/>
            <p14:sldId id="257"/>
          </p14:sldIdLst>
        </p14:section>
        <p14:section name="Inside the implant" id="{61427217-d374-97d5-d98c-ba8e82536caa}">
          <p14:sldIdLst>
            <p14:sldId id="258"/>
            <p14:sldId id="259"/>
            <p14:sldId id="260"/>
            <p14:sldId id="261"/>
          </p14:sldIdLst>
        </p14:section>
        <p14:section name="Decoding and output" id="{e5e4496e-2335-0634-619e-480eba5712a2}">
          <p14:sldIdLst>
            <p14:sldId id="262"/>
            <p14:sldId id="263"/>
            <p14:sldId id="264"/>
            <p14:sldId id="265"/>
          </p14:sldIdLst>
        </p14:section>
        <p14:section name="Caveats and sources" id="{bfec79e2-8bcd-7f6a-0d95-b2d3718dd389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A6875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5A6875"/>
                </a:solidFill>
                <a:latin typeface="+mn-lt"/>
              </a:rPr>
              <a:t>Data rate, log scale (Mbps)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Data rate (Mbps)</c:v>
                </c:pt>
              </c:strCache>
            </c:strRef>
          </c:tx>
          <c:spPr>
            <a:solidFill>
              <a:srgbClr val="B86A00"/>
            </a:solidFill>
            <a:effectLst/>
          </c:spPr>
          <c:invertIfNegative val="0"/>
          <c:dLbls>
            <c:numFmt formatCode="0.0&quot; Mbps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220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86A0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86A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742C9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Raw broadband</c:v>
                  </c:pt>
                  <c:pt idx="1">
                    <c:v>Best lossless (~4.4×)</c:v>
                  </c:pt>
                  <c:pt idx="2">
                    <c:v>Radio budget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204.8</c:v>
                </c:pt>
                <c:pt idx="1">
                  <c:v>46.5</c:v>
                </c:pt>
                <c:pt idx="2">
                  <c:v>1</c:v>
                </c:pt>
              </c:numCache>
            </c:numRef>
          </c:val>
        </c:ser>
        <c:dLbls>
          <c:numFmt formatCode="0.0&quot; Mbps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2202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8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logBase val="10"/>
          <c:orientation val="minMax"/>
          <c:max val="1000"/>
          <c:min val="0.1"/>
        </c:scaling>
        <c:delete val="0"/>
        <c:axPos val="b"/>
        <c:majorGridlines>
          <c:spPr>
            <a:ln w="6350" cap="flat">
              <a:solidFill>
                <a:srgbClr val="D3DBE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8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A6875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5A6875"/>
                </a:solidFill>
                <a:latin typeface="+mn-lt"/>
              </a:rPr>
              <a:t>Webgrid bits per second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Webgrid BPS</c:v>
                </c:pt>
              </c:strCache>
            </c:strRef>
          </c:tx>
          <c:spPr>
            <a:solidFill>
              <a:srgbClr val="2742C9"/>
            </a:solidFill>
            <a:effectLst/>
          </c:spPr>
          <c:invertIfNegative val="0"/>
          <c:dLbls>
            <c:numFmt formatCode="0.0#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220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742C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742C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742C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86A0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P1, first session (early 2024)</c:v>
                  </c:pt>
                  <c:pt idx="1">
                    <c:v>P1, May 2024</c:v>
                  </c:pt>
                  <c:pt idx="2">
                    <c:v>Previous record</c:v>
                  </c:pt>
                  <c:pt idx="3">
                    <c:v>P15, Oct 2026 (pretrained)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4.6</c:v>
                </c:pt>
                <c:pt idx="1">
                  <c:v>8</c:v>
                </c:pt>
                <c:pt idx="2">
                  <c:v>10.39</c:v>
                </c:pt>
                <c:pt idx="3">
                  <c:v>11.32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b="0" i="0" strike="noStrike" sz="1100" u="none">
                  <a:solidFill>
                    <a:srgbClr val="12202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8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  <c:min val="0"/>
        </c:scaling>
        <c:delete val="0"/>
        <c:axPos val="b"/>
        <c:majorGridlines>
          <c:spPr>
            <a:ln w="6350" cap="flat">
              <a:solidFill>
                <a:srgbClr val="D3DBE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8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Compiled 17 Oct 2026 from Neuralink's own updates, the 2019 JMIR paper, a Neuralink patent and the compression challenge. Every fact is tagged with its source in pipeline_data.json.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split matters: everything inside the implant is constrained by power (&lt;10 mW) and radio bandwidth (~1 Mbps). Everything outside can run large ML models.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PRIME Study Progress Update (2024-04-12), Two Years of Telepathy (2026-01-28), JMIR 2019 paper.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204.8 Mbps figure uses the compression challenge's numbers (1,024 channels, ~20 kHz, 10-bit). The table is the 2019 chip, the only one with published specs.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stage is the least documented. The exact on-implant algorithm isn't public; it's inferred from the patent, the compression challenge (page now offline) and community analysis (Spikey, ~4.4× lossless).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Neuralink, Pretraining on 50,000 Hours of Unlabeled Brain Data (2026-10-01). The cross-participant result: a P9-trained model beat P2's own decoder.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URLs are in WORKFLOW.md and pipeline_data.json.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chemeClr val="accent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48640"/>
            <a:ext cx="80467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93A6FF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371600"/>
            <a:ext cx="80467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246120"/>
            <a:ext cx="7315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C6D0DA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94360"/>
            <a:ext cx="8229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  <p:sp>
        <p:nvSpPr>
          <p:cNvPr id="4" name="Text 0"/>
          <p:cNvSpPr/>
          <p:nvPr/>
        </p:nvSpPr>
        <p:spPr>
          <a:xfrm>
            <a:off x="457200" y="475488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Neuralink signal path · draft, compiled 17 Oct 2026 from public sources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486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3A6FF"/>
                </a:solidFill>
              </a:rPr>
              <a:t>DRAFT · NEURALINK N1 DATA PATH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37160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From motor cortex to cursor: how Neuralink turns spikes into actions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2461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D0DA"/>
                </a:solidFill>
              </a:rPr>
              <a:t>Eight stages take the data from neurons firing in the hand-knob region to clicks, typing and a robot arm. On the way it shrinks from about 205 Mbps to roughly 1 Mbps, and then to a few intents per second.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THE WHOLE PATH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943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Four stages run inside the skull, four on the phone or laptop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63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tx2"/>
                </a:solidFill>
              </a:rPr>
              <a:t>INSIDE THE N1 IMPLANT</a:t>
            </a:r>
            <a:endParaRPr lang="en-US" sz="1000" dirty="0"/>
          </a:p>
        </p:txBody>
      </p:sp>
      <p:sp>
        <p:nvSpPr>
          <p:cNvPr id="5" name="stage 01"/>
          <p:cNvSpPr/>
          <p:nvPr/>
        </p:nvSpPr>
        <p:spPr>
          <a:xfrm>
            <a:off x="457200" y="1737360"/>
            <a:ext cx="1920240" cy="1188720"/>
          </a:xfrm>
          <a:prstGeom prst="roundRect">
            <a:avLst>
              <a:gd name="adj" fmla="val 4615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8470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0665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Neural source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3591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Motor cortex fires when a hand movement is intended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377440" y="21488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→</a:t>
            </a:r>
            <a:endParaRPr lang="en-US" sz="1400" dirty="0"/>
          </a:p>
        </p:txBody>
      </p:sp>
      <p:sp>
        <p:nvSpPr>
          <p:cNvPr id="10" name="stage 02"/>
          <p:cNvSpPr/>
          <p:nvPr/>
        </p:nvSpPr>
        <p:spPr>
          <a:xfrm>
            <a:off x="2560320" y="1737360"/>
            <a:ext cx="1920240" cy="1188720"/>
          </a:xfrm>
          <a:prstGeom prst="roundRect">
            <a:avLst>
              <a:gd name="adj" fmla="val 4615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97480" y="18470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20665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Threads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697480" y="23591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1,024 electrodes on 64 polymer threads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21488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tage 03"/>
          <p:cNvSpPr/>
          <p:nvPr/>
        </p:nvSpPr>
        <p:spPr>
          <a:xfrm>
            <a:off x="4663440" y="1737360"/>
            <a:ext cx="1920240" cy="1188720"/>
          </a:xfrm>
          <a:prstGeom prst="roundRect">
            <a:avLst>
              <a:gd name="adj" fmla="val 4615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00600" y="18470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800600" y="20665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Amplify + digitise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800600" y="23591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10-bit ADC, ~20 kHz per channel: ≈205 Mbps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21488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tage 04"/>
          <p:cNvSpPr/>
          <p:nvPr/>
        </p:nvSpPr>
        <p:spPr>
          <a:xfrm>
            <a:off x="6766560" y="1737360"/>
            <a:ext cx="1920240" cy="1188720"/>
          </a:xfrm>
          <a:prstGeom prst="roundRect">
            <a:avLst>
              <a:gd name="adj" fmla="val 4615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03720" y="18470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903720" y="20665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Spike detection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903720" y="23591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&gt;200× reduction to spike events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3063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tx2"/>
                </a:solidFill>
              </a:rPr>
              <a:t>EXTERNAL DEVICE (NEURALINK APP)</a:t>
            </a:r>
            <a:endParaRPr lang="en-US" sz="1000" dirty="0"/>
          </a:p>
        </p:txBody>
      </p:sp>
      <p:sp>
        <p:nvSpPr>
          <p:cNvPr id="25" name="stage 05"/>
          <p:cNvSpPr/>
          <p:nvPr/>
        </p:nvSpPr>
        <p:spPr>
          <a:xfrm>
            <a:off x="457200" y="3337560"/>
            <a:ext cx="1920240" cy="118872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94360" y="34472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94360" y="36667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Radio + power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594360" y="39593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Through the scalp at ≈1 Mbps; inductive charging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2377440" y="37490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→</a:t>
            </a:r>
            <a:endParaRPr lang="en-US" sz="1400" dirty="0"/>
          </a:p>
        </p:txBody>
      </p:sp>
      <p:sp>
        <p:nvSpPr>
          <p:cNvPr id="30" name="stage 06"/>
          <p:cNvSpPr/>
          <p:nvPr/>
        </p:nvSpPr>
        <p:spPr>
          <a:xfrm>
            <a:off x="2560320" y="3337560"/>
            <a:ext cx="1920240" cy="118872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697480" y="34472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2697480" y="36667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Decoding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2697480" y="39593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Pretrained Mamba encoder + small heads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480560" y="37490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→</a:t>
            </a:r>
            <a:endParaRPr lang="en-US" sz="1400" dirty="0"/>
          </a:p>
        </p:txBody>
      </p:sp>
      <p:sp>
        <p:nvSpPr>
          <p:cNvPr id="35" name="stage 07"/>
          <p:cNvSpPr/>
          <p:nvPr/>
        </p:nvSpPr>
        <p:spPr>
          <a:xfrm>
            <a:off x="4663440" y="3337560"/>
            <a:ext cx="1920240" cy="118872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800600" y="34472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4800600" y="36667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Post-processing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4800600" y="39593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Mode switcher maps intents to clicks, scroll, drag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6583680" y="37490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→</a:t>
            </a:r>
            <a:endParaRPr lang="en-US" sz="1400" dirty="0"/>
          </a:p>
        </p:txBody>
      </p:sp>
      <p:sp>
        <p:nvSpPr>
          <p:cNvPr id="40" name="stage 08"/>
          <p:cNvSpPr/>
          <p:nvPr/>
        </p:nvSpPr>
        <p:spPr>
          <a:xfrm>
            <a:off x="6766560" y="3337560"/>
            <a:ext cx="1920240" cy="118872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903720" y="34472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6903720" y="36667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Outputs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6903720" y="39593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Cursor, 40 WPM typing, robot arm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STAGES 1–2 · SIGNAL SOURCE AND SENSING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943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The implant listens to the part of the brain that plans hand movement</a:t>
            </a:r>
            <a:endParaRPr lang="en-US" sz="2600" dirty="0"/>
          </a:p>
        </p:txBody>
      </p:sp>
      <p:sp>
        <p:nvSpPr>
          <p:cNvPr id="4" name="electrode stat"/>
          <p:cNvSpPr/>
          <p:nvPr/>
        </p:nvSpPr>
        <p:spPr>
          <a:xfrm>
            <a:off x="457200" y="1554480"/>
            <a:ext cx="2743200" cy="2971800"/>
          </a:xfrm>
          <a:prstGeom prst="roundRect">
            <a:avLst>
              <a:gd name="adj" fmla="val 2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7830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1,024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560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electrodes on 64 threads, each thinner than a hair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2461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~3,000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749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planned for the next generation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160020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Target found before surgery with fMRI while the patient attempts hand movement (precentral gyrus).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These neurons still fire when a movement is intended, even with a severed spinal cord.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One implant in one hemisphere gives decodable signals for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both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hands.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R1 robot inserts the threads. In 2019 it placed up to 6 threads a minute with 87.1% success.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2019 threads: polyimide with gold traces, 5–50 µm wide, 4–6 µm thick.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STAGE 3 · ANALOG FRONT END AND ADC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943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Each channel is amplified, filtered and digitised on the implant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40233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5603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Parameter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2019 research ASIC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Gain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42.9–59.4 dB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Bandwidth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 Hz – 27 kHz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Input noise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5.9 µVrms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ADC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10-bit @ 19.3 kHz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Power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5.2 µW per channel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0233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256 channels per chip. Production N1 chip specs aren't published.</a:t>
            </a:r>
            <a:endParaRPr lang="en-US" sz="1100" dirty="0"/>
          </a:p>
        </p:txBody>
      </p:sp>
      <p:sp>
        <p:nvSpPr>
          <p:cNvPr id="6" name="raw rate callout"/>
          <p:cNvSpPr/>
          <p:nvPr/>
        </p:nvSpPr>
        <p:spPr>
          <a:xfrm>
            <a:off x="4846320" y="1600200"/>
            <a:ext cx="3840480" cy="1554480"/>
          </a:xfrm>
          <a:prstGeom prst="roundRect">
            <a:avLst>
              <a:gd name="adj" fmla="val 3529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74920" y="17556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Raw data the N1 produces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074920" y="210312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204.8 Mbps</a:t>
            </a:r>
            <a:endParaRPr lang="en-US" sz="4400" dirty="0"/>
          </a:p>
        </p:txBody>
      </p:sp>
      <p:sp>
        <p:nvSpPr>
          <p:cNvPr id="9" name="rate calculation"/>
          <p:cNvSpPr/>
          <p:nvPr/>
        </p:nvSpPr>
        <p:spPr>
          <a:xfrm>
            <a:off x="4846320" y="3337560"/>
            <a:ext cx="3840480" cy="868680"/>
          </a:xfrm>
          <a:prstGeom prst="roundRect">
            <a:avLst>
              <a:gd name="adj" fmla="val 631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29200" y="345643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1,024 ch × 20,000 samples/s × 10 bit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204,800,000 bit/s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STAGE 4 · ON-IMPLANT REDUCTION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943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The bottleneck: the radio carries about 1/200th of what is recorded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463040"/>
          <a:ext cx="475488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394960" y="1600200"/>
            <a:ext cx="3291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Must run in real time: under 1 ms, on less than 10 mW.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Lossless compression stops around 4–5×, so the implant sends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spike events and features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, not waveforms.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Patent method: filter, fit a model, compare to thresholds, then package each spike with a timestamp.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After threads pulled out in 2024, Neuralink retuned this step to pick up population activity.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STAGE 5 · WIRELESS LINK AND POWER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943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Spike data leaves the skull by radio, with no wires or connectors</a:t>
            </a:r>
            <a:endParaRPr lang="en-US" sz="2600" dirty="0"/>
          </a:p>
        </p:txBody>
      </p:sp>
      <p:sp>
        <p:nvSpPr>
          <p:cNvPr id="4" name="icon Data out"/>
          <p:cNvSpPr/>
          <p:nvPr/>
        </p:nvSpPr>
        <p:spPr>
          <a:xfrm>
            <a:off x="457200" y="160020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91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5819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Data out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8745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Through the scalp to the Neuralink App on a phone or computer, at about 1 Mbps.</a:t>
            </a:r>
            <a:endParaRPr lang="en-US" sz="1300" dirty="0"/>
          </a:p>
        </p:txBody>
      </p:sp>
      <p:sp>
        <p:nvSpPr>
          <p:cNvPr id="8" name="icon Power in"/>
          <p:cNvSpPr/>
          <p:nvPr/>
        </p:nvSpPr>
        <p:spPr>
          <a:xfrm>
            <a:off x="457200" y="2587752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6791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5694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Power in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86207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Battery charges inductively from the N1 Charger. Nothing passes through the skin.</a:t>
            </a:r>
            <a:endParaRPr lang="en-US" sz="1300" dirty="0"/>
          </a:p>
        </p:txBody>
      </p:sp>
      <p:sp>
        <p:nvSpPr>
          <p:cNvPr id="12" name="icon Radio type"/>
          <p:cNvSpPr/>
          <p:nvPr/>
        </p:nvSpPr>
        <p:spPr>
          <a:xfrm>
            <a:off x="457200" y="3575304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6667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5570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Radio type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84962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Usually described as Bluetooth Low Energy class. Neuralink hasn't confirmed it.</a:t>
            </a:r>
            <a:endParaRPr lang="en-US" sz="1300" dirty="0"/>
          </a:p>
        </p:txBody>
      </p:sp>
      <p:sp>
        <p:nvSpPr>
          <p:cNvPr id="16" name="2019 comparison"/>
          <p:cNvSpPr/>
          <p:nvPr/>
        </p:nvSpPr>
        <p:spPr>
          <a:xfrm>
            <a:off x="5394960" y="1600200"/>
            <a:ext cx="3291840" cy="2834640"/>
          </a:xfrm>
          <a:prstGeom prst="roundRect">
            <a:avLst>
              <a:gd name="adj" fmla="val 19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23560" y="17830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tx2"/>
                </a:solidFill>
              </a:rPr>
              <a:t>FOR COMPARISON: 2019 RIG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623560" y="21031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Wired: USB-C to a base station streaming over 10 GbE.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623560" y="28803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6.5 h/day</a:t>
            </a:r>
            <a:endParaRPr lang="en-US" sz="3200" dirty="0"/>
          </a:p>
        </p:txBody>
      </p:sp>
      <p:sp>
        <p:nvSpPr>
          <p:cNvPr id="20" name="Text 18"/>
          <p:cNvSpPr txBox="1"/>
          <p:nvPr/>
        </p:nvSpPr>
        <p:spPr>
          <a:xfrm>
            <a:off x="5623560" y="34747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average independent use by Feb 2025, which wireless operation made possible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STAGE 6 · DECODING, THEN AND NOW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943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Pretraining on 50,000 hours of brain data cut calibration time</a:t>
            </a:r>
            <a:endParaRPr lang="en-US" sz="2600" dirty="0"/>
          </a:p>
        </p:txBody>
      </p:sp>
      <p:sp>
        <p:nvSpPr>
          <p:cNvPr id="4" name="before"/>
          <p:cNvSpPr/>
          <p:nvPr/>
        </p:nvSpPr>
        <p:spPr>
          <a:xfrm>
            <a:off x="457200" y="1554480"/>
            <a:ext cx="3977640" cy="2971800"/>
          </a:xfrm>
          <a:prstGeom prst="roundRect">
            <a:avLst>
              <a:gd name="adj" fmla="val 184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after"/>
          <p:cNvSpPr/>
          <p:nvPr/>
        </p:nvSpPr>
        <p:spPr>
          <a:xfrm>
            <a:off x="4709160" y="1554480"/>
            <a:ext cx="3977640" cy="2971800"/>
          </a:xfrm>
          <a:prstGeom prst="roundRect">
            <a:avLst>
              <a:gd name="adj" fmla="val 184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71907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tx2"/>
                </a:solidFill>
              </a:rPr>
              <a:t>BEFORE · PER-USER SUPERVISED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937760" y="171907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accent1"/>
                </a:solidFill>
              </a:rPr>
              <a:t>OCT 2026 · PRETRAINED ENCODER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05740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Each user had a decoder for each feature, trained on calibration tasks.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Neural signals drift, so decoders went stale.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About 10 min a day recalibrating (55 min a week).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205740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Self-supervised encoder trained on &gt;50,000 h of unlabeled data.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30 s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of labels now matches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3.5 min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of old calibration.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Decoders last more than a week; one still worked after 20 months.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Transferred to another participant with 99% of weights frozen.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STAGE 6 · INSIDE THE ENCODER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943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Spikes go in as tokens and intents come out of small heads</a:t>
            </a:r>
            <a:endParaRPr lang="en-US" sz="2600" dirty="0"/>
          </a:p>
        </p:txBody>
      </p:sp>
      <p:sp>
        <p:nvSpPr>
          <p:cNvPr id="4" name="flow Spike tokens"/>
          <p:cNvSpPr/>
          <p:nvPr/>
        </p:nvSpPr>
        <p:spPr>
          <a:xfrm>
            <a:off x="457200" y="1554480"/>
            <a:ext cx="1874520" cy="1325880"/>
          </a:xfrm>
          <a:prstGeom prst="roundRect">
            <a:avLst>
              <a:gd name="adj" fmla="val 4138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691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Spike tokens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0116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Each spike is a token with a learned per-channel embedding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331720" y="205740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→</a:t>
            </a:r>
            <a:endParaRPr lang="en-US" sz="1600" dirty="0"/>
          </a:p>
        </p:txBody>
      </p:sp>
      <p:sp>
        <p:nvSpPr>
          <p:cNvPr id="8" name="flow Perceiver input"/>
          <p:cNvSpPr/>
          <p:nvPr/>
        </p:nvSpPr>
        <p:spPr>
          <a:xfrm>
            <a:off x="2560320" y="1554480"/>
            <a:ext cx="1874520" cy="1325880"/>
          </a:xfrm>
          <a:prstGeom prst="roundRect">
            <a:avLst>
              <a:gd name="adj" fmla="val 4138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97480" y="1691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Perceiver input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697480" y="20116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Compresses spike tokens into a fixed set of latents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434840" y="205740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flow Mamba backbone"/>
          <p:cNvSpPr/>
          <p:nvPr/>
        </p:nvSpPr>
        <p:spPr>
          <a:xfrm>
            <a:off x="4663440" y="1554480"/>
            <a:ext cx="1874520" cy="1325880"/>
          </a:xfrm>
          <a:prstGeom prst="roundRect">
            <a:avLst>
              <a:gd name="adj" fmla="val 413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00600" y="1691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Mamba backbone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20116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State-space model, fully causal and low-latency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205740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flow Decoder heads"/>
          <p:cNvSpPr/>
          <p:nvPr/>
        </p:nvSpPr>
        <p:spPr>
          <a:xfrm>
            <a:off x="6766560" y="1554480"/>
            <a:ext cx="1874520" cy="1325880"/>
          </a:xfrm>
          <a:prstGeom prst="roundRect">
            <a:avLst>
              <a:gd name="adj" fmla="val 4138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03720" y="1691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Decoder heads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20116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Cursor velocity, click, finger/key, 7+ arm DOF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1546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tx2"/>
                </a:solidFill>
              </a:rPr>
              <a:t>TRAINING OBJECTIVE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42900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Spatially masked auto-Poisson regression.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See half the channels, predict spike counts on the other half. No labels needed, so free-use hours become training data.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709160" y="31546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tx2"/>
                </a:solidFill>
              </a:rPr>
              <a:t>SCALE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709160" y="3429000"/>
            <a:ext cx="3977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Participant 1 alone: more than 9,000 hours, about 22.4 billion spikes. Direct target-position decoding ("cursor teleportation") exceeded 10 BPS in early tests.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STAGES 7–8 · POST-PROCESSING AND OUTPUTS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943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Decoded intents become ordinary input events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54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chemeClr val="tx2"/>
                </a:solidFill>
              </a:rPr>
              <a:t>POST-PROCESSING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828800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Earlier versions used smoothing, low-velocity suppression and click filtering. Each added lag.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Pretrained decoders are stable enough that several were dropped.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 mode switcher maps intents to left, right and middle click, scroll, zoom, pan and drag.</a:t>
            </a:r>
            <a:endParaRPr lang="en-US" sz="1400" dirty="0"/>
          </a:p>
        </p:txBody>
      </p:sp>
      <p:sp>
        <p:nvSpPr>
          <p:cNvPr id="6" name="output Computer + phone"/>
          <p:cNvSpPr/>
          <p:nvPr/>
        </p:nvSpPr>
        <p:spPr>
          <a:xfrm>
            <a:off x="4709160" y="1554480"/>
            <a:ext cx="1874520" cy="1325880"/>
          </a:xfrm>
          <a:prstGeom prst="roundRect">
            <a:avLst>
              <a:gd name="adj" fmla="val 4138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691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Computer + phone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21031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Chess, Civ VI, Mario Kart, Fusion 360, Illustrator</a:t>
            </a:r>
            <a:endParaRPr lang="en-US" sz="1200" dirty="0"/>
          </a:p>
        </p:txBody>
      </p:sp>
      <p:sp>
        <p:nvSpPr>
          <p:cNvPr id="9" name="output 40 WPM"/>
          <p:cNvSpPr/>
          <p:nvPr/>
        </p:nvSpPr>
        <p:spPr>
          <a:xfrm>
            <a:off x="6720840" y="1554480"/>
            <a:ext cx="1874520" cy="1325880"/>
          </a:xfrm>
          <a:prstGeom prst="roundRect">
            <a:avLst>
              <a:gd name="adj" fmla="val 4138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0" y="1691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 WPM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858000" y="21031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Ten-finger "mind keyboard" typing</a:t>
            </a:r>
            <a:endParaRPr lang="en-US" sz="1200" dirty="0"/>
          </a:p>
        </p:txBody>
      </p:sp>
      <p:sp>
        <p:nvSpPr>
          <p:cNvPr id="12" name="output Robot arm"/>
          <p:cNvSpPr/>
          <p:nvPr/>
        </p:nvSpPr>
        <p:spPr>
          <a:xfrm>
            <a:off x="4709160" y="3035808"/>
            <a:ext cx="1874520" cy="1325880"/>
          </a:xfrm>
          <a:prstGeom prst="roundRect">
            <a:avLst>
              <a:gd name="adj" fmla="val 4138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317296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Robot arm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3584448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CONVOY trial: feeding and gesturing</a:t>
            </a:r>
            <a:endParaRPr lang="en-US" sz="1200" dirty="0"/>
          </a:p>
        </p:txBody>
      </p:sp>
      <p:sp>
        <p:nvSpPr>
          <p:cNvPr id="15" name="output Next"/>
          <p:cNvSpPr/>
          <p:nvPr/>
        </p:nvSpPr>
        <p:spPr>
          <a:xfrm>
            <a:off x="6720840" y="3035808"/>
            <a:ext cx="1874520" cy="132588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0" y="317296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3584448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Speech ~140 WPM (VOICE), vision (Blindsight)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HOW THE OUTPUT IS MEASURED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943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Cursor control now beats a typical able-bodied mouse user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463040"/>
          <a:ext cx="54864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mouse reference"/>
          <p:cNvSpPr/>
          <p:nvPr/>
        </p:nvSpPr>
        <p:spPr>
          <a:xfrm>
            <a:off x="6172200" y="1554480"/>
            <a:ext cx="2514600" cy="1371600"/>
          </a:xfrm>
          <a:prstGeom prst="roundRect">
            <a:avLst>
              <a:gd name="adj" fmla="val 4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355080" y="16916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8–10 BPS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355080" y="22860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able-bodied person using a mouse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172200" y="310896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21 participants as of Jan 2026, with zero serious device-related adverse events reported. All figures are company-reported.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BPS = log2(N_click · grid² − 1) · max(correct − incorrect, 0) / 60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CONFIDENCE AND GAPS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943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Most of the path is documented, but stage 4 is inferred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5029200"/>
                <a:gridCol w="1371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Stage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Basis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Confidence</a:t>
                      </a:r>
                      <a:endParaRPr lang="en-US" sz="11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1, 2, 5, 6, 7, 8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Neuralink posts, 2019 peer-reviewed paper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primary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3 · front end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2019 research chip; production N1 specs unpublished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partial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4 · on-implant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Patent, compression challenge (offline), community analysis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secondary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5 · radio type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Press describes it as BLE-class; not confirmed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secondary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Performance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Company-reported, not independently checked</a:t>
                      </a:r>
                      <a:endParaRPr lang="en-US" sz="13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2"/>
                          </a:solidFill>
                        </a:rPr>
                        <a:t>unverified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SOURCES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943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Where each fact comes from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54480"/>
            <a:ext cx="3977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chemeClr val="tx1"/>
                </a:solidFill>
              </a:rPr>
              <a:t>Musk E, Neuralink. An Integrated Brain-Machine Interface Platform With Thousands of Channels. J Med Internet Res 2019;21(10):e16194. doi:10.2196/16194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chemeClr val="tx1"/>
                </a:solidFill>
              </a:rPr>
              <a:t>Neuralink. PRIME Study Progress Update (2024-04-12)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chemeClr val="tx1"/>
                </a:solidFill>
              </a:rPr>
              <a:t>Neuralink. PRIME Update: User Experience (2024-05-08)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chemeClr val="tx1"/>
                </a:solidFill>
              </a:rPr>
              <a:t>Neuralink. PRIME Update: Second Participant (2024-08-21)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chemeClr val="tx1"/>
                </a:solidFill>
              </a:rPr>
              <a:t>Neuralink. A Year of Telepathy (2025-02-05)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chemeClr val="tx1"/>
                </a:solidFill>
              </a:rPr>
              <a:t>Neuralink. Two Years of Telepathy (2026-01-28)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709160" y="1554480"/>
            <a:ext cx="3977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7"/>
            </a:pPr>
            <a:r>
              <a:rPr lang="en-US" sz="1100" dirty="0">
                <a:solidFill>
                  <a:schemeClr val="tx1"/>
                </a:solidFill>
              </a:rPr>
              <a:t>Neuralink. Pretraining on 50,000 Hours of Unlabeled Brain Data (2026-10-01)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7"/>
            </a:pPr>
            <a:r>
              <a:rPr lang="en-US" sz="1100" dirty="0">
                <a:solidFill>
                  <a:schemeClr val="tx1"/>
                </a:solidFill>
              </a:rPr>
              <a:t>Neuralink. Technology page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7"/>
            </a:pPr>
            <a:r>
              <a:rPr lang="en-US" sz="1100" dirty="0">
                <a:solidFill>
                  <a:schemeClr val="tx1"/>
                </a:solidFill>
              </a:rPr>
              <a:t>Neuralink Compression Challenge README (now offline)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7"/>
            </a:pPr>
            <a:r>
              <a:rPr lang="en-US" sz="1100" dirty="0">
                <a:solidFill>
                  <a:schemeClr val="tx1"/>
                </a:solidFill>
              </a:rPr>
              <a:t>US 2021/0012909 A1. Real-time neural spike detection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7"/>
            </a:pPr>
            <a:r>
              <a:rPr lang="en-US" sz="1100" dirty="0">
                <a:solidFill>
                  <a:schemeClr val="tx1"/>
                </a:solidFill>
              </a:rPr>
              <a:t>Spikey, community lossless compression analysis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uralink Signal Path">
  <a:themeElements>
    <a:clrScheme name="Neuralink Signal Path">
      <a:dk1>
        <a:srgbClr val="12202B"/>
      </a:dk1>
      <a:lt1>
        <a:srgbClr val="FFFFFF"/>
      </a:lt1>
      <a:dk2>
        <a:srgbClr val="5A6875"/>
      </a:dk2>
      <a:lt2>
        <a:srgbClr val="EEF1F4"/>
      </a:lt2>
      <a:accent1>
        <a:srgbClr val="2742C9"/>
      </a:accent1>
      <a:accent2>
        <a:srgbClr val="B86A00"/>
      </a:accent2>
      <a:accent3>
        <a:srgbClr val="E3E8FB"/>
      </a:accent3>
      <a:accent4>
        <a:srgbClr val="F7EBD8"/>
      </a:accent4>
      <a:accent5>
        <a:srgbClr val="D3DBE2"/>
      </a:accent5>
      <a:accent6>
        <a:srgbClr val="0E1A26"/>
      </a:accent6>
      <a:hlink>
        <a:srgbClr val="2742C9"/>
      </a:hlink>
      <a:folHlink>
        <a:srgbClr val="5A6875"/>
      </a:folHlink>
    </a:clrScheme>
    <a:fontScheme name="Neuralink Signal Path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Neuralink Signal Path</dc:title>
  <dc:subject>PptxGenJS Presentation</dc:subject>
  <dc:creator>Neuralink research notes</dc:creator>
  <cp:lastModifiedBy>Neuralink research notes</cp:lastModifiedBy>
  <cp:revision>1</cp:revision>
  <dcterms:created xsi:type="dcterms:W3CDTF">2026-10-17T21:07:33Z</dcterms:created>
  <dcterms:modified xsi:type="dcterms:W3CDTF">2026-10-17T21:07:33Z</dcterms:modified>
</cp:coreProperties>
</file>